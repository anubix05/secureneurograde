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75" r:id="rId11"/>
    <p:sldId id="266" r:id="rId12"/>
    <p:sldId id="274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CC0066"/>
    <a:srgbClr val="FF0000"/>
    <a:srgbClr val="CC0000"/>
    <a:srgbClr val="993300"/>
    <a:srgbClr val="CC3300"/>
    <a:srgbClr val="A2362E"/>
    <a:srgbClr val="BC4036"/>
    <a:srgbClr val="580000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000000"/>
                </a:solidFill>
                <a:latin typeface="Arial"/>
              </a:rPr>
              <a:t>Test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42A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DT</c:v>
                </c:pt>
                <c:pt idx="1">
                  <c:v>CNN</c:v>
                </c:pt>
                <c:pt idx="2">
                  <c:v>ViT</c:v>
                </c:pt>
                <c:pt idx="3">
                  <c:v>CAFNet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82.99</c:v>
                </c:pt>
                <c:pt idx="1">
                  <c:v>75.900000000000006</c:v>
                </c:pt>
                <c:pt idx="2">
                  <c:v>87.34</c:v>
                </c:pt>
                <c:pt idx="3">
                  <c:v>96.41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1-4CA8-A2E0-6B2521254E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776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08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CAFNet: A Hybrid CNN–ViT Framework with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Fusion for Robust Brain Tumor Classification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300" dirty="0"/>
          </a:p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Ms. Sreeja S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Asst. Professor</a:t>
            </a:r>
          </a:p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C2FE0B-B7F9-6543-D952-24015A1A2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-305347"/>
            <a:ext cx="2632726" cy="26327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7971D2-8FA6-26AB-7508-60F8A2D64A9F}"/>
              </a:ext>
            </a:extLst>
          </p:cNvPr>
          <p:cNvSpPr txBox="1"/>
          <p:nvPr/>
        </p:nvSpPr>
        <p:spPr>
          <a:xfrm>
            <a:off x="9482198" y="5427628"/>
            <a:ext cx="2484902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Anubind C Biju
S7 CY</a:t>
            </a:r>
          </a:p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Roll no 17</a:t>
            </a:r>
            <a:endParaRPr 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F30F99-AB99-8E25-E7C9-384BA6242FFC}"/>
              </a:ext>
            </a:extLst>
          </p:cNvPr>
          <p:cNvSpPr txBox="1"/>
          <p:nvPr/>
        </p:nvSpPr>
        <p:spPr>
          <a:xfrm>
            <a:off x="3887068" y="6381735"/>
            <a:ext cx="44099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</a:t>
            </a:r>
            <a:endParaRPr lang="en-IN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1450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60236" y="146304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61404" y="171450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661404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74636" y="146304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90322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265176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60236" y="265176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1404" y="290322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661404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74636" y="265176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09194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384048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60236" y="384048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61404" y="409194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61404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74636" y="384048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528066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63040" y="502920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60236" y="502920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61404" y="528066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661404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74636" y="5029200"/>
            <a:ext cx="44485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547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classification from MRI is essential for early diagnosis and treatment planning.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methods (SVM, Decision Tree, Naïve Bayes) rely on hand-crafted features (texture, shape, intensity).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learn hierarchical spatial features automatically but struggle to capture global context across an image.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 model long-range relationships via self-attention, but have weak inductive bias and need large datasets.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motivates a hybrid CNN–ViT approach: CAFNet, with a Cross-Attention Fusion (CAF) module.</a:t>
            </a:r>
            <a:endParaRPr lang="en-US" sz="1600" dirty="0"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2DECE424-0D5A-0734-328B-F58AA8EB5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412090"/>
            <a:ext cx="4297680" cy="428985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C8E07004-D82C-EA6F-EDA0-C5C278E4AF52}"/>
              </a:ext>
            </a:extLst>
          </p:cNvPr>
          <p:cNvSpPr/>
          <p:nvPr/>
        </p:nvSpPr>
        <p:spPr>
          <a:xfrm>
            <a:off x="7251192" y="574766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MRI scans across the 4 tumor classes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ML and standalone deep learning models fail to jointly capture local fine-grained tumor texture and global contextual relationships in brain MRI scans, limiting classification accuracy and robustness across tumor types.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14344" cy="219456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606040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Global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3112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capture local texture but miss long-range spatial dependencies.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7304" y="2468880"/>
            <a:ext cx="3514344" cy="219456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8472" y="2606040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38472" y="2971800"/>
            <a:ext cx="3112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medical datasets cause both CNNs and ViTs to overfit or underperform.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5968" y="2468880"/>
            <a:ext cx="3514344" cy="219456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7136" y="2606040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Gap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27136" y="2971800"/>
            <a:ext cx="3112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effective attention-driven mechanism to combine CNN and ViT features.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prior CNN / ViT hybrid approaches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5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393471"/>
              </p:ext>
            </p:extLst>
          </p:nvPr>
        </p:nvGraphicFramePr>
        <p:xfrm>
          <a:off x="457200" y="1371600"/>
          <a:ext cx="11091672" cy="4206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2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CNN–RNN hybrid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(Bharati et al.) [3]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extracts spatial features; RNN models sequential MRI slice information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inter-slice dependence across 3D volumes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Lacks explicit global spatial awareness within a single slice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Capsule Networks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(Afshar et al.) [2]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CapsNets preserve spatial hierarchies unlike CNNs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orientation variation; works with fewer samples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computational complexity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(contd.)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prior CNN / ViT hybrid approaches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6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79531"/>
              </p:ext>
            </p:extLst>
          </p:nvPr>
        </p:nvGraphicFramePr>
        <p:xfrm>
          <a:off x="457200" y="1371600"/>
          <a:ext cx="11091672" cy="4206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2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EFFResNet-ViT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(Hussain et al.) [4]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ResNet convolutional features with ViT global attention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accuracy &amp; interpretability on medical images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Symmetric/static fusion; no query-driven cross-attention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Transfer 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(Yadav et al.) [5]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pretrained CNNs (ResNet, VGG) for multi-class brain tumor MRI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accuracy using pretrained knowledge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only local spatial info; no global contextual modelling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Architecture &amp;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CAFNet: hybrid CNN–ViT with Cross-Attention Fusion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E8EEF3"/>
          </a:solidFill>
          <a:ln w="12700">
            <a:solidFill>
              <a:srgbClr val="0079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17373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E8EEF3"/>
          </a:solidFill>
          <a:ln w="12700">
            <a:solidFill>
              <a:srgbClr val="007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features)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29260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E8EEF3"/>
          </a:solidFill>
          <a:ln w="12700">
            <a:solidFill>
              <a:srgbClr val="0079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Encoder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features)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3317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CEED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(CAF)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06640" y="233172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E8EEF3"/>
          </a:solidFill>
          <a:ln w="12700">
            <a:solidFill>
              <a:srgbClr val="0079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2331720"/>
            <a:ext cx="12801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8EEF3"/>
          </a:solidFill>
          <a:ln w="12700">
            <a:solidFill>
              <a:srgbClr val="0079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737360"/>
            <a:ext cx="26517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Class: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/ Meningioma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/ No Tumor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V="1">
            <a:off x="2011680" y="2148840"/>
            <a:ext cx="365760" cy="594360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11680" y="2743200"/>
            <a:ext cx="365760" cy="594360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31920" y="2148840"/>
            <a:ext cx="1097280" cy="594360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3931920" y="2743200"/>
            <a:ext cx="1097280" cy="594360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2743200"/>
            <a:ext cx="548640" cy="0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8686800" y="2377440"/>
            <a:ext cx="365760" cy="365760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CNN provides local texture (Key/Value); ViT provides global context (Query); CAF fuses both before classification.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Preprocessing &amp; Augmentation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675120" cy="487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rescaled to [0,1] (divide by 255).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±20°.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zoom ±20%.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with 50% probability.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Validation/test sets: rescaled only — no augmentation, to preserve unbiased evaluation.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80% train / 10% validation / 10% test, stratified.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50792" cy="2377440"/>
          </a:xfrm>
          <a:prstGeom prst="roundRect">
            <a:avLst>
              <a:gd name="adj" fmla="val 3077"/>
            </a:avLst>
          </a:prstGeom>
          <a:solidFill>
            <a:srgbClr val="FCEEDD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90688" y="160020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augment?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90688" y="1965960"/>
            <a:ext cx="3648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real-world variance in scan orientation and scale, reducing overfitting on a moderate-sized dataset (5,712 train / 1,311 test images).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Layered System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751076" y="1417320"/>
            <a:ext cx="8686800" cy="658368"/>
          </a:xfrm>
          <a:prstGeom prst="roundRect">
            <a:avLst>
              <a:gd name="adj" fmla="val 8333"/>
            </a:avLst>
          </a:prstGeom>
          <a:solidFill>
            <a:srgbClr val="E8EEF3"/>
          </a:solidFill>
          <a:ln w="9525">
            <a:solidFill>
              <a:srgbClr val="142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79676" y="1417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—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scans (glioma, meningioma, pituitary, no tumor)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4476" y="2075688"/>
            <a:ext cx="0" cy="164592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51076" y="2240280"/>
            <a:ext cx="8686800" cy="658368"/>
          </a:xfrm>
          <a:prstGeom prst="roundRect">
            <a:avLst>
              <a:gd name="adj" fmla="val 8333"/>
            </a:avLst>
          </a:prstGeom>
          <a:solidFill>
            <a:srgbClr val="D9EEF1"/>
          </a:solidFill>
          <a:ln w="9525">
            <a:solidFill>
              <a:srgbClr val="142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9676" y="22402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Layer  —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local features ∥ ViT global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4476" y="2898648"/>
            <a:ext cx="0" cy="164592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51076" y="3063240"/>
            <a:ext cx="8686800" cy="658368"/>
          </a:xfrm>
          <a:prstGeom prst="roundRect">
            <a:avLst>
              <a:gd name="adj" fmla="val 8333"/>
            </a:avLst>
          </a:prstGeom>
          <a:solidFill>
            <a:srgbClr val="FCEEDD"/>
          </a:solidFill>
          <a:ln w="9525">
            <a:solidFill>
              <a:srgbClr val="142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9676" y="3063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Layer  —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Fusion (Q = ViT, K/V = CNN)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4476" y="3721608"/>
            <a:ext cx="0" cy="164592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751076" y="3886200"/>
            <a:ext cx="8686800" cy="658368"/>
          </a:xfrm>
          <a:prstGeom prst="roundRect">
            <a:avLst>
              <a:gd name="adj" fmla="val 8333"/>
            </a:avLst>
          </a:prstGeom>
          <a:solidFill>
            <a:srgbClr val="D9EEF1"/>
          </a:solidFill>
          <a:ln w="9525">
            <a:solidFill>
              <a:srgbClr val="142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9676" y="3886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  —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representation → dense classifier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4476" y="4544568"/>
            <a:ext cx="0" cy="164592"/>
          </a:xfrm>
          <a:prstGeom prst="line">
            <a:avLst/>
          </a:prstGeom>
          <a:noFill/>
          <a:ln w="19050">
            <a:solidFill>
              <a:srgbClr val="142A4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751076" y="4709160"/>
            <a:ext cx="8686800" cy="658368"/>
          </a:xfrm>
          <a:prstGeom prst="roundRect">
            <a:avLst>
              <a:gd name="adj" fmla="val 8333"/>
            </a:avLst>
          </a:prstGeom>
          <a:solidFill>
            <a:srgbClr val="E8EEF3"/>
          </a:solidFill>
          <a:ln w="9525">
            <a:solidFill>
              <a:srgbClr val="142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9676" y="4709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 —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tumor class (Test Acc. 96.41%)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Cross-Attention Fusion (CAF)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novelty: how CNN and ViT features are fused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10</a:t>
            </a:r>
            <a:endParaRPr lang="en-US" sz="1600" dirty="0"/>
          </a:p>
        </p:txBody>
      </p:sp>
      <p:pic>
        <p:nvPicPr>
          <p:cNvPr id="6" name="Image 0" descr="/home/claude/work/assets/fig23_caf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341" y="1371600"/>
            <a:ext cx="6202837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23 (from base paper) — CNN Encoder produces Key/Value; ViT Encoder produces the Query; Cross-Attention fuses them into the final feature representation.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(query)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ViT — “which local regions matter for my global understanding?”   </a:t>
            </a: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V (key/value)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the CNN — the fine-grained local detail being queried.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Dataset &amp;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Kaggle Brain Tumor MRI dataset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classes: glioma, meningioma, pituitary, no tumor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Train: 5,712 images   Test: 1,311 images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stratified 80/10/10 split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 of tumor type from an MRI scan.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467256890"/>
              </p:ext>
            </p:extLst>
          </p:nvPr>
        </p:nvGraphicFramePr>
        <p:xfrm>
          <a:off x="6309360" y="137160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— Confusion Matrix: ViT vs. CAFNet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12</a:t>
            </a:r>
            <a:endParaRPr lang="en-US" sz="1600" dirty="0"/>
          </a:p>
        </p:txBody>
      </p:sp>
      <p:pic>
        <p:nvPicPr>
          <p:cNvPr id="5" name="Image 0" descr="/home/claude/work/assets/fig21_vit_conf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73" y="1280160"/>
            <a:ext cx="4402853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21 — ViT (Test Acc. 87.34%)</a:t>
            </a:r>
            <a:endParaRPr lang="en-US" sz="1100" dirty="0"/>
          </a:p>
        </p:txBody>
      </p:sp>
      <p:pic>
        <p:nvPicPr>
          <p:cNvPr id="7" name="Image 1" descr="/home/claude/work/assets/fig26_cafnet_confm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058" y="1280160"/>
            <a:ext cx="5166125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26 — CAFNet (Test Acc. 96.41%)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base paper and wider literature do not fully address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 across scanners, institutions and imaging protocols not established.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3000" y="27889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interpretability analysis (e.g. Grad-CAM, SHAP) of CAFNet's predictions.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43000" y="420624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single public dataset only.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03720" y="137160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privacy-preserving or federated training setup for multi-institutional data.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8803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5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03720" y="27889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computational cost; overfitting risk with limited training data.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429768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6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03720" y="420624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lightweight/real-time deployment variant for clinical workflows.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extensions to explore further — not a completed project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50876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Grad-CAM / SHAP to visualize which fused (local + global) features drive each CAFNet prediction.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1636" y="137160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32804" y="150876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Multi-institutional Validation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2804" y="187452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evaluation to larger, multi-site MRI datasets to test generalizability.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384048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Training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9808" y="420624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federated learning and encrypted inference for clinical deployment.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1636" y="37033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2804" y="384048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Deployment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32804" y="420624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compressed/distilled CAFNet variants for real-time clinical workflows.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50876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Assisting radiologists with faster, consistent MRI-based tumor screening.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1636" y="137160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32804" y="150876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Planning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2804" y="187452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early-stage detection to guide treatment strategy.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84048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 Extension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" y="420624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CNN–ViT fusion approach generalizable to other imaging tasks (breast, skin).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1636" y="37033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FE3E8"/>
            </a:solidFill>
            <a:prstDash val="solid"/>
          </a:ln>
          <a:effectLst>
            <a:outerShdw blurRad="76200" dist="25400" dir="5400000" algn="bl" rotWithShape="0">
              <a:srgbClr val="8C8C8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32804" y="3840480"/>
            <a:ext cx="5006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Clinical AI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32804" y="4206240"/>
            <a:ext cx="50063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inference pipelines for privacy-preserving deployment in hospitals.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CAFNet fuses CNN's local texture features with ViT's global context via a Cross-Attention Fusion mechanism.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96.41% test accuracy, outperforming classical ML (82.99%), plain CNN (75.90%) and standalone ViT (87.34%).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confirms the fusion mechanism itself — not just combining two branches — drives the largest accuracy gain.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via 5-fold cross-validation (96.08% ± 0.47%) and out-of-domain testing (95.60%).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open gaps: interpretability, multi-institutional generalization, and privacy-preserving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</a:rPr>
              <a:t>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Jayaraman, G., Meganathan, S., Mohideen Shah, S. S., Anuradha, M., Sundararajan, R. K., &amp; Rajakumar, R.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hybrid CNN–ViT framework with cross-attention fusion and data augmentation for robust brain tumor classification.”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Scientific Reports, 15:45769 (2025).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Afshar, P., Mohammadi, A., &amp; Plataniotis, K. N.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“Brain tumor type classification via capsule networks.”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ICIP (2018).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Bharati, S., Podder, P., &amp; Mondal, S.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“Hybrid CNN-RNN model for brain tumor classification from MRI images.”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Recognit. Lett., 145 (2021).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Hussain, T. et al.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“EFFResNet-ViT: A fusion-based convolutional and vision transformer model for explainable medical image classification.”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13 (2025).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Yadav, A. C., Shah, K., Purohit, A., &amp; Kolekar, M. H.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“Computer-aided diagnosis for multi-class classification of brain tumors using CNN features via transfer-learning.”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Multimedia Tools and Applications, 84(31) (2025).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060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1363</Words>
  <Application>Microsoft Office PowerPoint</Application>
  <PresentationFormat>Widescreen</PresentationFormat>
  <Paragraphs>207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Anubind C Biju</cp:lastModifiedBy>
  <cp:revision>2</cp:revision>
  <dcterms:created xsi:type="dcterms:W3CDTF">2026-08-12T23:18:02Z</dcterms:created>
  <dcterms:modified xsi:type="dcterms:W3CDTF">2026-08-13T04:20:58Z</dcterms:modified>
</cp:coreProperties>
</file>